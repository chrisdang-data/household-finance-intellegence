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5E55"/>
    <a:srgbClr val="175F21"/>
    <a:srgbClr val="0B9486"/>
    <a:srgbClr val="339966"/>
    <a:srgbClr val="001A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03D6A-2082-4092-825B-DB1ACBA0475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F293A-D360-4D3E-BDFF-57DB6280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6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F293A-D360-4D3E-BDFF-57DB6280BE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33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8DCE-70BD-EA00-93BB-A47EF6CF2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9DB9D-838B-A6E1-9FDF-82ABB3E09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A25B8-6A1D-07A0-FE4B-60B29E59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01D1F-BF83-B05E-D0B8-E3FBE99A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17D5C-5F49-4D60-9E3C-AD100C3F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5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DBD9-59F6-B38E-1426-4BD45AED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67678-BC62-5BDF-A398-9FA34E1DB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6695-C666-76BE-131E-FA3655CD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CCC56-A2BA-898C-7828-5FDE9197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48BB1-6419-CFBC-F083-CE2A3E8F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7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7066-564D-DBDF-1FE7-D2A85B02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1DA3A-9CF8-E8C1-6615-EC0EA5CBC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25CC2-7AC6-F641-D1AD-4CACC3EB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B7F02-E136-FE10-5C1C-15097135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18962-5964-5853-0358-75AFC248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39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E93A-5178-5D0B-D589-20340614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F6180-25BF-6D19-FAFC-CCA7AAD02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46327-FD3D-963A-1552-BCEDB7F62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8477B-8BA8-C037-9236-83C57E16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871B2-A75B-34D5-976B-A95C24D0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7B0AD-7BAD-8A23-8BAF-FA9A9E98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05EB-9511-F2CA-CE9D-56F3A3222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D9169-C1D2-AFC0-CC38-8BD5051D2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312C7-D3DD-6EA0-979F-E03685321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C025C-2882-AAD6-7DAC-B919A3FC1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BD364-608E-0FBB-C707-D913597AF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8BCEC-6965-CF35-5E37-4B2CDF0F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001DD-27D5-0881-CCD8-E6D568C6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CD519-BC37-E895-92E9-3413AB9C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5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B763-034D-E884-EAFF-0572F79B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4DAB1-CECB-4F1B-9DAC-B6C177B0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7C5C1-E346-8F8B-2750-953661B4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B55A1-3032-C7FF-0B8E-87BD62DB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8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06680-7AC7-68CF-AA24-3163FF66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ED900-A1BE-BDB5-1DB2-26FE93D0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66B4B-6D6D-94B6-06B4-75BDA96F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6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A4C6-EF12-C92C-8454-AE962487D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81C2F-FFA8-5805-5003-6CA2ADD6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9F72E-983F-83F9-B424-07F839C3C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E33BE-8F80-7747-BF79-F20A4000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98824-9CDD-BA11-6504-8D43BA37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1B34B-AFD7-9AFB-4696-899F3A50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DD82-AE92-7998-FB2E-90D49228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3B3921-5807-4D4A-D22F-50871A55F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3E15F-A890-2008-2098-F4BAFEE37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E23AD-81E7-0008-C815-627BB099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AEDD8-D71F-B0E4-6A7E-70E17025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2B5F9-D59E-A797-AA4C-18578762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CDD1-AD94-AE0C-9B0E-6859E20F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E9EFC-2579-F7AB-F8F3-57E6E1A6B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DEA1-BC19-0608-31D7-ABDB6620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62743-C9E9-BFCB-44DE-631B5EB7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21A1D-BF27-0265-FCAD-F415FE26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8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7C415-551C-DF04-A76C-6A26396C3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7CA6E-24E6-227A-77C0-27757794F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AC4E4-397D-064B-4D13-BA5CAB6E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0406B-14BA-74DF-051A-921B037F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8627C-C7F7-6B94-D622-CDD1E6FA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0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3E1B1-BFCB-D7FA-58A7-1039EAFA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6C060-C5EA-ACEC-F2D9-F5375357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56579-3446-EB24-D778-445EED18B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7E980-CC5E-4129-8C41-91587A6FBA7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08B0-7C79-9FDE-5FDD-FA4C4F2DD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293B5-AA93-9B58-F233-9B08E616E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A332-FDBF-4EFC-8F1C-49B0F8D0E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93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usehold-financial-web.vercel.app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8D41-1D04-8D2F-AF96-64B955D9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04528D-DC67-C38A-13D4-C7D567CA1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87548"/>
            <a:ext cx="12192000" cy="683991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98ACBF-5329-309B-78C9-1FC84B7E9299}"/>
              </a:ext>
            </a:extLst>
          </p:cNvPr>
          <p:cNvSpPr/>
          <p:nvPr/>
        </p:nvSpPr>
        <p:spPr>
          <a:xfrm>
            <a:off x="536463" y="356083"/>
            <a:ext cx="6443133" cy="30638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7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Household Finance Intelligence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6CD088-65B0-1276-AD9A-FAD5F78F7C5C}"/>
              </a:ext>
            </a:extLst>
          </p:cNvPr>
          <p:cNvSpPr/>
          <p:nvPr/>
        </p:nvSpPr>
        <p:spPr>
          <a:xfrm>
            <a:off x="-78903" y="4742359"/>
            <a:ext cx="7335737" cy="6346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25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https://household-financial-web.vercel.app/</a:t>
            </a:r>
            <a:endParaRPr lang="en-US" sz="25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AE1545-D96E-51DC-71B1-FC63C50BD4FC}"/>
              </a:ext>
            </a:extLst>
          </p:cNvPr>
          <p:cNvSpPr/>
          <p:nvPr/>
        </p:nvSpPr>
        <p:spPr>
          <a:xfrm>
            <a:off x="-78903" y="3118648"/>
            <a:ext cx="6443134" cy="142996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30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MAKE YOUR FINANCE CONTROLABLE AND PREDICTABLE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2199F3-5D0C-5434-2608-CB8D197ACD0F}"/>
              </a:ext>
            </a:extLst>
          </p:cNvPr>
          <p:cNvSpPr/>
          <p:nvPr/>
        </p:nvSpPr>
        <p:spPr>
          <a:xfrm>
            <a:off x="341099" y="5677774"/>
            <a:ext cx="2801565" cy="8613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3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Chris Dang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3E9550-AF95-231E-2A92-CFC0E50AE19D}"/>
              </a:ext>
            </a:extLst>
          </p:cNvPr>
          <p:cNvSpPr/>
          <p:nvPr/>
        </p:nvSpPr>
        <p:spPr>
          <a:xfrm>
            <a:off x="9540222" y="5752352"/>
            <a:ext cx="2801565" cy="8613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6000"/>
              </a:lnSpc>
            </a:pPr>
            <a:r>
              <a:rPr lang="en-US" sz="3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2026/06/24</a:t>
            </a:r>
          </a:p>
        </p:txBody>
      </p:sp>
    </p:spTree>
    <p:extLst>
      <p:ext uri="{BB962C8B-B14F-4D97-AF65-F5344CB8AC3E}">
        <p14:creationId xmlns:p14="http://schemas.microsoft.com/office/powerpoint/2010/main" val="852969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5F1BD-EE83-AB48-D5A2-239353BBA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7193" cy="684947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284BB6-AE6B-246F-78F9-3093156E6E73}"/>
              </a:ext>
            </a:extLst>
          </p:cNvPr>
          <p:cNvSpPr/>
          <p:nvPr/>
        </p:nvSpPr>
        <p:spPr>
          <a:xfrm>
            <a:off x="5698067" y="319615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60B979-0C38-C40C-C9F1-2DA69D39BCE5}"/>
              </a:ext>
            </a:extLst>
          </p:cNvPr>
          <p:cNvGrpSpPr/>
          <p:nvPr/>
        </p:nvGrpSpPr>
        <p:grpSpPr>
          <a:xfrm>
            <a:off x="5901267" y="497414"/>
            <a:ext cx="5825066" cy="1058333"/>
            <a:chOff x="7315200" y="1075267"/>
            <a:chExt cx="3429000" cy="8382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1364E2-3D2D-C494-EC91-F6AE0F0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24D40FB-C414-DD8E-9A4F-F60065CE77E9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258AF6D-A1CC-F65E-280B-F30ABB3C8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CD9DB1E-C39C-A50A-2868-BC98E8A6FD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32C18B3-6F29-B6D7-6853-76C13ED999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9B238BE-E2E5-7313-7B0D-61343EEC470C}"/>
              </a:ext>
            </a:extLst>
          </p:cNvPr>
          <p:cNvSpPr/>
          <p:nvPr/>
        </p:nvSpPr>
        <p:spPr>
          <a:xfrm>
            <a:off x="129928" y="163782"/>
            <a:ext cx="4702062" cy="11062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000"/>
              </a:lnSpc>
            </a:pPr>
            <a:r>
              <a:rPr lang="en-US" sz="30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Why Household Finance Intelligence matters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A314AFA-FE17-0E46-584F-307BADDE1D6D}"/>
              </a:ext>
            </a:extLst>
          </p:cNvPr>
          <p:cNvSpPr/>
          <p:nvPr/>
        </p:nvSpPr>
        <p:spPr>
          <a:xfrm>
            <a:off x="5722488" y="1907112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3A458FF-8605-325A-B535-9664C86DC66D}"/>
              </a:ext>
            </a:extLst>
          </p:cNvPr>
          <p:cNvGrpSpPr/>
          <p:nvPr/>
        </p:nvGrpSpPr>
        <p:grpSpPr>
          <a:xfrm>
            <a:off x="5901267" y="2084911"/>
            <a:ext cx="5825066" cy="1058333"/>
            <a:chOff x="7315200" y="1075267"/>
            <a:chExt cx="3429000" cy="83820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DE18FE6-7922-9D3E-8514-A1A791015CA2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9DEBF11-433D-0222-1091-BA0E6AC63C21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2E79FFB-F95E-1122-4798-5975E59EC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407DB84-8638-1D7C-9901-5CA71B0BD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FA2A8D5-97DF-FD7D-48F2-5AC8FDBF0C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F5B7306-B356-EB3D-9F6F-A0089B00AFE0}"/>
              </a:ext>
            </a:extLst>
          </p:cNvPr>
          <p:cNvSpPr/>
          <p:nvPr/>
        </p:nvSpPr>
        <p:spPr>
          <a:xfrm>
            <a:off x="5698067" y="3471276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1FB921-939D-B818-08D0-AE7CF982394D}"/>
              </a:ext>
            </a:extLst>
          </p:cNvPr>
          <p:cNvGrpSpPr/>
          <p:nvPr/>
        </p:nvGrpSpPr>
        <p:grpSpPr>
          <a:xfrm>
            <a:off x="5901267" y="3649075"/>
            <a:ext cx="5825066" cy="1058333"/>
            <a:chOff x="7315200" y="1075267"/>
            <a:chExt cx="3429000" cy="8382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9AA9C0A-B0DE-8872-77CE-EBAFBBA28413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D6835DD-1635-B268-D865-3912CFC985FF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52CFD3B-2BEA-2CB0-BA0F-5CCA9BD557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E50F6FA-EB60-095A-55C7-1D5FF183E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EC5C8BA-DCB6-0B6D-3A6E-2B603A6BB0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0E825AD-920D-F26F-D766-4392991561A4}"/>
              </a:ext>
            </a:extLst>
          </p:cNvPr>
          <p:cNvSpPr/>
          <p:nvPr/>
        </p:nvSpPr>
        <p:spPr>
          <a:xfrm>
            <a:off x="5698067" y="5035440"/>
            <a:ext cx="6180666" cy="1413933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BFC814D-8316-A84E-E8B9-0F902AACF17C}"/>
              </a:ext>
            </a:extLst>
          </p:cNvPr>
          <p:cNvGrpSpPr/>
          <p:nvPr/>
        </p:nvGrpSpPr>
        <p:grpSpPr>
          <a:xfrm>
            <a:off x="5901267" y="5213239"/>
            <a:ext cx="5825066" cy="1058333"/>
            <a:chOff x="7315200" y="1075267"/>
            <a:chExt cx="3429000" cy="83820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9D0AA90-BB3A-E20B-9C2D-456D4CFB6517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1913467"/>
              <a:ext cx="3412067" cy="0"/>
            </a:xfrm>
            <a:prstGeom prst="line">
              <a:avLst/>
            </a:prstGeom>
            <a:ln w="19050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1AC7C78-CF81-B05D-35FF-FBAAC8CEA458}"/>
                </a:ext>
              </a:extLst>
            </p:cNvPr>
            <p:cNvGrpSpPr/>
            <p:nvPr/>
          </p:nvGrpSpPr>
          <p:grpSpPr>
            <a:xfrm>
              <a:off x="7315200" y="1075267"/>
              <a:ext cx="3429000" cy="838200"/>
              <a:chOff x="7315200" y="1075267"/>
              <a:chExt cx="3429000" cy="838200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15F5227-4404-3FE7-9130-B7D0B61A0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200" y="1075267"/>
                <a:ext cx="3412067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34BF405-08D5-F728-5132-75C2C70A7E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4200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7762E0A-7093-B7D6-8292-CAD826122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3667" y="1075267"/>
                <a:ext cx="0" cy="83820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AFFECEAA-BFE2-B53B-89F5-3E5F18213FEA}"/>
              </a:ext>
            </a:extLst>
          </p:cNvPr>
          <p:cNvSpPr/>
          <p:nvPr/>
        </p:nvSpPr>
        <p:spPr>
          <a:xfrm>
            <a:off x="5968995" y="702733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4E6CA29-1937-F4CA-648D-BF442724525A}"/>
              </a:ext>
            </a:extLst>
          </p:cNvPr>
          <p:cNvSpPr/>
          <p:nvPr/>
        </p:nvSpPr>
        <p:spPr>
          <a:xfrm>
            <a:off x="6035824" y="2317799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AE41399-ABD1-7F80-DEB5-40492DAC6C33}"/>
              </a:ext>
            </a:extLst>
          </p:cNvPr>
          <p:cNvSpPr/>
          <p:nvPr/>
        </p:nvSpPr>
        <p:spPr>
          <a:xfrm>
            <a:off x="6035824" y="3799307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8CD2DB5-A20A-7206-08E0-CB397F51C1C1}"/>
              </a:ext>
            </a:extLst>
          </p:cNvPr>
          <p:cNvSpPr/>
          <p:nvPr/>
        </p:nvSpPr>
        <p:spPr>
          <a:xfrm>
            <a:off x="6035824" y="5418558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04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50F3FEE-4540-B298-6BA5-E445D4C1EBDD}"/>
              </a:ext>
            </a:extLst>
          </p:cNvPr>
          <p:cNvSpPr/>
          <p:nvPr/>
        </p:nvSpPr>
        <p:spPr>
          <a:xfrm>
            <a:off x="6705601" y="586427"/>
            <a:ext cx="490811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money is everywhere</a:t>
            </a:r>
          </a:p>
          <a:p>
            <a:r>
              <a:rPr lang="en-US" sz="1400" dirty="0"/>
              <a:t>Bills, pay stubs, bank apps, and spreadsheets don’t talk to each other. There is no </a:t>
            </a:r>
            <a:r>
              <a:rPr lang="en-US" sz="1400" b="1" dirty="0"/>
              <a:t>single place</a:t>
            </a:r>
            <a:r>
              <a:rPr lang="en-US" sz="1400" dirty="0"/>
              <a:t> to see income, expenses, and obligations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2EB5236-E8DA-24D7-764F-7B0A3C8E1FF0}"/>
              </a:ext>
            </a:extLst>
          </p:cNvPr>
          <p:cNvSpPr/>
          <p:nvPr/>
        </p:nvSpPr>
        <p:spPr>
          <a:xfrm>
            <a:off x="6705600" y="2106360"/>
            <a:ext cx="521193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Simple questions are hard to answer</a:t>
            </a:r>
          </a:p>
          <a:p>
            <a:r>
              <a:rPr lang="en-US" sz="1400" dirty="0"/>
              <a:t>Can my family afford a $20K travel to China in July?</a:t>
            </a:r>
          </a:p>
          <a:p>
            <a:r>
              <a:rPr lang="en-US" sz="1400" dirty="0"/>
              <a:t>How much contributions have been made into RESP, TFSA, RRSP?</a:t>
            </a:r>
          </a:p>
          <a:p>
            <a:r>
              <a:rPr lang="en-US" sz="1400" dirty="0"/>
              <a:t>Do I have enough cash for 2</a:t>
            </a:r>
            <a:r>
              <a:rPr lang="en-US" sz="1400" baseline="30000" dirty="0"/>
              <a:t>nd</a:t>
            </a:r>
            <a:r>
              <a:rPr lang="en-US" sz="1400" dirty="0"/>
              <a:t> installment of property tax in June? 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2F6801C-33DA-DE49-FC0A-C68E06298021}"/>
              </a:ext>
            </a:extLst>
          </p:cNvPr>
          <p:cNvSpPr/>
          <p:nvPr/>
        </p:nvSpPr>
        <p:spPr>
          <a:xfrm>
            <a:off x="6705601" y="3670385"/>
            <a:ext cx="490811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 don’t become usable data</a:t>
            </a:r>
          </a:p>
          <a:p>
            <a:r>
              <a:rPr lang="en-CA" sz="1400" dirty="0"/>
              <a:t>PDFs and statements sit in email/letter, insurance, car lease, tax notices — and you still dig them out manually</a:t>
            </a:r>
            <a:endParaRPr lang="en-US" sz="14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434F260-4CEB-10F7-9C9D-B22ED35C67C9}"/>
              </a:ext>
            </a:extLst>
          </p:cNvPr>
          <p:cNvSpPr/>
          <p:nvPr/>
        </p:nvSpPr>
        <p:spPr>
          <a:xfrm>
            <a:off x="6781725" y="5240379"/>
            <a:ext cx="4908117" cy="920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need answers on the go</a:t>
            </a:r>
          </a:p>
          <a:p>
            <a:r>
              <a:rPr lang="en-US" sz="1400" dirty="0"/>
              <a:t>How can we know our disposable assets without counting all kinds of accounts in different banks? How can we our investments performance in one shot?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EDB327B-6169-169C-62AB-F63C604ED206}"/>
              </a:ext>
            </a:extLst>
          </p:cNvPr>
          <p:cNvSpPr/>
          <p:nvPr/>
        </p:nvSpPr>
        <p:spPr>
          <a:xfrm>
            <a:off x="262468" y="1377947"/>
            <a:ext cx="1735666" cy="1106219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Couples / households</a:t>
            </a:r>
            <a:endParaRPr lang="en-US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392221D3-E7D8-D97E-924F-6FB91F79DEB2}"/>
              </a:ext>
            </a:extLst>
          </p:cNvPr>
          <p:cNvSpPr/>
          <p:nvPr/>
        </p:nvSpPr>
        <p:spPr>
          <a:xfrm>
            <a:off x="2847603" y="1377946"/>
            <a:ext cx="1735666" cy="1106219"/>
          </a:xfrm>
          <a:prstGeom prst="roundRect">
            <a:avLst/>
          </a:prstGeom>
          <a:solidFill>
            <a:srgbClr val="055E5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Self- employment</a:t>
            </a:r>
            <a:endParaRPr lang="en-US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9624A32-2DBE-50F4-F694-F47A19611BD2}"/>
              </a:ext>
            </a:extLst>
          </p:cNvPr>
          <p:cNvSpPr/>
          <p:nvPr/>
        </p:nvSpPr>
        <p:spPr>
          <a:xfrm>
            <a:off x="104967" y="2592110"/>
            <a:ext cx="5345921" cy="410210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Households struggle to turn scattered documents and transactions into trustworthy answers about cash flow, obligations.</a:t>
            </a:r>
          </a:p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Generic AI chatbots are unsafe for money because they hallucinate numbers.</a:t>
            </a:r>
          </a:p>
          <a:p>
            <a:pPr>
              <a:lnSpc>
                <a:spcPts val="2500"/>
              </a:lnSpc>
            </a:pPr>
            <a:endParaRPr lang="en-US" b="1" i="1" dirty="0">
              <a:solidFill>
                <a:schemeClr val="tx1"/>
              </a:solidFill>
            </a:endParaRPr>
          </a:p>
          <a:p>
            <a:pPr>
              <a:lnSpc>
                <a:spcPts val="2500"/>
              </a:lnSpc>
            </a:pPr>
            <a:r>
              <a:rPr lang="en-US" b="1" i="1" dirty="0">
                <a:solidFill>
                  <a:schemeClr val="tx1"/>
                </a:solidFill>
              </a:rPr>
              <a:t> Household Financial Intelligence solves this with a canonical ledger, deterministic forecasting, human-reviewed document ingestion, and AI limited to explanation — delivered via web UI and Telegram.</a:t>
            </a:r>
            <a:endParaRPr lang="en-US" b="1" dirty="0"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767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070D-E1AC-BE81-9426-11CB9DEF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C854A3-F179-3E11-CA31-9CBEFF3EC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7193" cy="684947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933BA6-E8CF-00F8-2291-CA9F13C4FD9F}"/>
              </a:ext>
            </a:extLst>
          </p:cNvPr>
          <p:cNvSpPr/>
          <p:nvPr/>
        </p:nvSpPr>
        <p:spPr>
          <a:xfrm>
            <a:off x="2085729" y="73454"/>
            <a:ext cx="7464672" cy="65748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000" b="1" dirty="0">
                <a:solidFill>
                  <a:srgbClr val="055E5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Solution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362BCF-2930-226D-F026-790A9CDA6742}"/>
              </a:ext>
            </a:extLst>
          </p:cNvPr>
          <p:cNvSpPr/>
          <p:nvPr/>
        </p:nvSpPr>
        <p:spPr>
          <a:xfrm>
            <a:off x="363225" y="772214"/>
            <a:ext cx="5477932" cy="598867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470D9F-E064-C326-FD29-141CE8B4F07F}"/>
              </a:ext>
            </a:extLst>
          </p:cNvPr>
          <p:cNvCxnSpPr/>
          <p:nvPr/>
        </p:nvCxnSpPr>
        <p:spPr>
          <a:xfrm>
            <a:off x="863600" y="883279"/>
            <a:ext cx="0" cy="5901266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77282C-C740-2FE2-8165-C5BB8CF538BF}"/>
              </a:ext>
            </a:extLst>
          </p:cNvPr>
          <p:cNvSpPr/>
          <p:nvPr/>
        </p:nvSpPr>
        <p:spPr>
          <a:xfrm>
            <a:off x="1054138" y="795868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B02A21-92FD-4B4A-CB5C-80E4713351E8}"/>
              </a:ext>
            </a:extLst>
          </p:cNvPr>
          <p:cNvSpPr/>
          <p:nvPr/>
        </p:nvSpPr>
        <p:spPr>
          <a:xfrm>
            <a:off x="6383868" y="772214"/>
            <a:ext cx="5556626" cy="5988677"/>
          </a:xfrm>
          <a:prstGeom prst="roundRect">
            <a:avLst/>
          </a:prstGeom>
          <a:solidFill>
            <a:srgbClr val="0B94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E0A84B-E3C2-485E-F0C1-EBFD8692D23F}"/>
              </a:ext>
            </a:extLst>
          </p:cNvPr>
          <p:cNvCxnSpPr/>
          <p:nvPr/>
        </p:nvCxnSpPr>
        <p:spPr>
          <a:xfrm>
            <a:off x="6894361" y="883279"/>
            <a:ext cx="0" cy="5901266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9630D43-19A8-480B-6727-41672D99555E}"/>
              </a:ext>
            </a:extLst>
          </p:cNvPr>
          <p:cNvSpPr/>
          <p:nvPr/>
        </p:nvSpPr>
        <p:spPr>
          <a:xfrm>
            <a:off x="7021435" y="772214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7C9118-0678-3A94-5CF0-6BBE0AE2E746}"/>
              </a:ext>
            </a:extLst>
          </p:cNvPr>
          <p:cNvSpPr/>
          <p:nvPr/>
        </p:nvSpPr>
        <p:spPr>
          <a:xfrm>
            <a:off x="1054137" y="1526807"/>
            <a:ext cx="4593123" cy="1986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One financial truth in Postgres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Manual entry → </a:t>
            </a:r>
            <a:r>
              <a:rPr lang="en-US" sz="1600" b="1" dirty="0" err="1"/>
              <a:t>FinancialEvent</a:t>
            </a:r>
            <a:r>
              <a:rPr lang="en-US" sz="1600" dirty="0"/>
              <a:t> (ledger)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Upload PDFs → extract </a:t>
            </a:r>
            <a:r>
              <a:rPr lang="en-US" sz="1600" b="1" dirty="0" err="1"/>
              <a:t>FinancialObligation</a:t>
            </a:r>
            <a:r>
              <a:rPr lang="en-US" sz="1600" dirty="0"/>
              <a:t> → confirm → </a:t>
            </a:r>
            <a:r>
              <a:rPr lang="en-US" sz="1600" b="1" dirty="0" err="1"/>
              <a:t>FinancialEvent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Forecast &amp; Q&amp;A read the same ledger — no duplicate spreadsheets</a:t>
            </a:r>
          </a:p>
          <a:p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0D5C23-A6C6-5603-C6B3-007163800BA4}"/>
              </a:ext>
            </a:extLst>
          </p:cNvPr>
          <p:cNvSpPr/>
          <p:nvPr/>
        </p:nvSpPr>
        <p:spPr>
          <a:xfrm>
            <a:off x="1733964" y="882481"/>
            <a:ext cx="3693169" cy="58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Centralize data in PostgreSQL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8231A7-AA29-B4CA-86AF-61AD1B91A908}"/>
              </a:ext>
            </a:extLst>
          </p:cNvPr>
          <p:cNvSpPr/>
          <p:nvPr/>
        </p:nvSpPr>
        <p:spPr>
          <a:xfrm>
            <a:off x="960566" y="3433491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E2435-88A5-A342-BD71-6E1E14950C7F}"/>
              </a:ext>
            </a:extLst>
          </p:cNvPr>
          <p:cNvSpPr/>
          <p:nvPr/>
        </p:nvSpPr>
        <p:spPr>
          <a:xfrm>
            <a:off x="960565" y="3902548"/>
            <a:ext cx="4593123" cy="1986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Plaid Direct API</a:t>
            </a:r>
            <a:r>
              <a:rPr lang="en-US" sz="1600" dirty="0"/>
              <a:t> for linked bank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Sync balances → </a:t>
            </a:r>
            <a:r>
              <a:rPr lang="en-US" sz="1600" b="1" dirty="0" err="1"/>
              <a:t>current_cash</a:t>
            </a:r>
            <a:r>
              <a:rPr lang="en-US" sz="1600" dirty="0"/>
              <a:t> (checking) + balance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Ledger + Plaid → </a:t>
            </a:r>
            <a:r>
              <a:rPr lang="en-US" sz="1600" b="1" dirty="0"/>
              <a:t>6‑month forecast</a:t>
            </a:r>
            <a:r>
              <a:rPr lang="en-US" sz="1600" dirty="0"/>
              <a:t> and </a:t>
            </a:r>
            <a:r>
              <a:rPr lang="en-US" sz="1600" b="1" dirty="0"/>
              <a:t>disposable assets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Scenario Chat:</a:t>
            </a:r>
            <a:r>
              <a:rPr lang="en-US" sz="1600" dirty="0"/>
              <a:t> engines compute; </a:t>
            </a:r>
            <a:r>
              <a:rPr lang="en-US" sz="1600" b="1" dirty="0"/>
              <a:t>AI explains</a:t>
            </a:r>
            <a:r>
              <a:rPr lang="en-US" sz="1600" dirty="0"/>
              <a:t> in plain language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84734-FD17-62F4-13E8-009C0BAFA7AA}"/>
              </a:ext>
            </a:extLst>
          </p:cNvPr>
          <p:cNvSpPr/>
          <p:nvPr/>
        </p:nvSpPr>
        <p:spPr>
          <a:xfrm>
            <a:off x="1640392" y="3429000"/>
            <a:ext cx="3693169" cy="679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Live balances with Plaid + AI Q&amp;A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D797C-FEEC-C0D5-037A-7837D4E1ED9C}"/>
              </a:ext>
            </a:extLst>
          </p:cNvPr>
          <p:cNvSpPr/>
          <p:nvPr/>
        </p:nvSpPr>
        <p:spPr>
          <a:xfrm>
            <a:off x="7111606" y="3428944"/>
            <a:ext cx="685725" cy="6752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755FF9-B13B-08DE-9C5A-8BF7D235A516}"/>
              </a:ext>
            </a:extLst>
          </p:cNvPr>
          <p:cNvSpPr/>
          <p:nvPr/>
        </p:nvSpPr>
        <p:spPr>
          <a:xfrm>
            <a:off x="7114574" y="3902548"/>
            <a:ext cx="4593123" cy="2669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dirty="0"/>
              <a:t>Prod</a:t>
            </a:r>
            <a:r>
              <a:rPr lang="en-US" sz="1600" i="1" dirty="0"/>
              <a:t>: Telegram → </a:t>
            </a:r>
            <a:r>
              <a:rPr lang="en-US" sz="1600" b="1" i="1" dirty="0"/>
              <a:t>n8n on Railway</a:t>
            </a:r>
            <a:r>
              <a:rPr lang="en-US" sz="1600" i="1" dirty="0"/>
              <a:t> → </a:t>
            </a:r>
            <a:r>
              <a:rPr lang="en-US" sz="1600" b="1" i="1" dirty="0" err="1"/>
              <a:t>Vercel</a:t>
            </a:r>
            <a:r>
              <a:rPr lang="en-US" sz="1600" b="1" i="1" dirty="0"/>
              <a:t> API</a:t>
            </a:r>
            <a:r>
              <a:rPr lang="en-US" sz="1600" i="1" dirty="0"/>
              <a:t> → Telegram</a:t>
            </a:r>
            <a:br>
              <a:rPr lang="en-US" sz="1600" dirty="0"/>
            </a:br>
            <a:r>
              <a:rPr lang="en-US" sz="1600" b="1" i="1" dirty="0"/>
              <a:t>Dev:</a:t>
            </a:r>
            <a:r>
              <a:rPr lang="en-US" sz="1600" i="1" dirty="0"/>
              <a:t> swap Railway for </a:t>
            </a:r>
            <a:r>
              <a:rPr lang="en-US" sz="1600" b="1" i="1" dirty="0" err="1"/>
              <a:t>ngrok</a:t>
            </a:r>
            <a:r>
              <a:rPr lang="en-US" sz="1600" b="1" i="1" dirty="0"/>
              <a:t> → local n8n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n8n: bot webhook + workflows (Q&amp;A, ledger, monthly Plaid sync)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Vercel</a:t>
            </a:r>
            <a:r>
              <a:rPr lang="en-US" sz="1600" dirty="0"/>
              <a:t>: secured routes (AUTOMATION_WEBHOOK_TOKEN) — same logic as /simulation and /ledger</a:t>
            </a:r>
          </a:p>
          <a:p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ADC660-5E09-5F61-C75E-CC821BC27C05}"/>
              </a:ext>
            </a:extLst>
          </p:cNvPr>
          <p:cNvSpPr/>
          <p:nvPr/>
        </p:nvSpPr>
        <p:spPr>
          <a:xfrm>
            <a:off x="7707160" y="3458796"/>
            <a:ext cx="3693169" cy="5970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Telegram on the go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BFB60-B757-C58E-9184-DF3CE549619D}"/>
              </a:ext>
            </a:extLst>
          </p:cNvPr>
          <p:cNvSpPr/>
          <p:nvPr/>
        </p:nvSpPr>
        <p:spPr>
          <a:xfrm>
            <a:off x="7114574" y="1624145"/>
            <a:ext cx="4593123" cy="1508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Upload once, use two ways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RAG</a:t>
            </a:r>
            <a:r>
              <a:rPr lang="en-US" sz="1600" dirty="0"/>
              <a:t> (Postgres + embeddings) → AI retrieves contract/tax bill text at question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Obsidian wiki</a:t>
            </a:r>
            <a:r>
              <a:rPr lang="en-US" sz="1600" dirty="0"/>
              <a:t> → human-readable notes &amp; links for you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Files in </a:t>
            </a:r>
            <a:r>
              <a:rPr lang="en-US" sz="1600" b="1" dirty="0"/>
              <a:t>Blob/local storage</a:t>
            </a:r>
            <a:r>
              <a:rPr lang="en-US" sz="1600" dirty="0"/>
              <a:t>; structured amounts still land in the </a:t>
            </a:r>
            <a:r>
              <a:rPr lang="en-US" sz="1600" b="1" dirty="0"/>
              <a:t>ledger</a:t>
            </a:r>
            <a:endParaRPr lang="en-US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BC1A8D-5FF5-D289-4778-6E92BBA09686}"/>
              </a:ext>
            </a:extLst>
          </p:cNvPr>
          <p:cNvSpPr/>
          <p:nvPr/>
        </p:nvSpPr>
        <p:spPr>
          <a:xfrm>
            <a:off x="7707160" y="862239"/>
            <a:ext cx="3693169" cy="58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Documents: RAG + Obsidian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69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33246-4144-1FBE-6DC4-724B430F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CF2755-42E9-CAF5-4DD7-A408D1F1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4"/>
            <a:ext cx="12207193" cy="68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9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5CD6-D0B7-1245-01EA-F4B6CE76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326222-3784-F7CE-21DB-D20F6B702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4"/>
            <a:ext cx="12207193" cy="68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2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F4C1-80E9-3E38-8F0C-5477BC9A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804D4-9C12-AAC3-4103-9792FEAB6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4"/>
            <a:ext cx="12207193" cy="68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48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444</Words>
  <Application>Microsoft Office PowerPoint</Application>
  <PresentationFormat>Widescreen</PresentationFormat>
  <Paragraphs>52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Lihong Dang</dc:creator>
  <cp:lastModifiedBy>Lihong Dang</cp:lastModifiedBy>
  <cp:revision>16</cp:revision>
  <dcterms:created xsi:type="dcterms:W3CDTF">2026-06-23T02:21:27Z</dcterms:created>
  <dcterms:modified xsi:type="dcterms:W3CDTF">2026-06-23T12:31:37Z</dcterms:modified>
</cp:coreProperties>
</file>