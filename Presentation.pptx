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9486"/>
    <a:srgbClr val="055E55"/>
    <a:srgbClr val="175F21"/>
    <a:srgbClr val="339966"/>
    <a:srgbClr val="001A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603D6A-2082-4092-825B-DB1ACBA0475E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AF293A-D360-4D3E-BDFF-57DB6280B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169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AF293A-D360-4D3E-BDFF-57DB6280BE1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0336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78DCE-70BD-EA00-93BB-A47EF6CF2E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C9DB9D-838B-A6E1-9FDF-82ABB3E09A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9A25B8-6A1D-07A0-FE4B-60B29E59B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1D1F-BF83-B05E-D0B8-E3FBE99A5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17D5C-5F49-4D60-9E3C-AD100C3F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752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DBD9-59F6-B38E-1426-4BD45AED3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67678-BC62-5BDF-A398-9FA34E1DB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C6695-C666-76BE-131E-FA3655CD5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CCC56-A2BA-898C-7828-5FDE91970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48BB1-6419-CFBC-F083-CE2A3E8F5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72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57066-564D-DBDF-1FE7-D2A85B028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1DA3A-9CF8-E8C1-6615-EC0EA5CBC3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25CC2-7AC6-F641-D1AD-4CACC3EB0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B7F02-E136-FE10-5C1C-150971356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18962-5964-5853-0358-75AFC2485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939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FE93A-5178-5D0B-D589-203406144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F6180-25BF-6D19-FAFC-CCA7AAD02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746327-FD3D-963A-1552-BCEDB7F62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28477B-8BA8-C037-9236-83C57E16B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871B2-A75B-34D5-976B-A95C24D0A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7B0AD-7BAD-8A23-8BAF-FA9A9E986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60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F05EB-9511-F2CA-CE9D-56F3A3222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D9169-C1D2-AFC0-CC38-8BD5051D2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1312C7-D3DD-6EA0-979F-E036853219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7C025C-2882-AAD6-7DAC-B919A3FC1A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FBD364-608E-0FBB-C707-D913597AFF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C8BCEC-6965-CF35-5E37-4B2CDF0FC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7001DD-27D5-0881-CCD8-E6D568C6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9CD519-BC37-E895-92E9-3413AB9C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54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CB763-034D-E884-EAFF-0572F79BB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74DAB1-CECB-4F1B-9DAC-B6C177B01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C7C5C1-E346-8F8B-2750-953661B41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4B55A1-3032-C7FF-0B8E-87BD62DB6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89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06680-7AC7-68CF-AA24-3163FF66C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ED900-A1BE-BDB5-1DB2-26FE93D06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66B4B-6D6D-94B6-06B4-75BDA96F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561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4A4C6-EF12-C92C-8454-AE962487D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81C2F-FFA8-5805-5003-6CA2ADD60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D9F72E-983F-83F9-B424-07F839C3C9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AE33BE-8F80-7747-BF79-F20A40003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798824-9CDD-BA11-6504-8D43BA37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1B34B-AFD7-9AFB-4696-899F3A505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470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1DD82-AE92-7998-FB2E-90D49228C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3B3921-5807-4D4A-D22F-50871A55F5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A3E15F-A890-2008-2098-F4BAFEE378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E23AD-81E7-0008-C815-627BB099B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6AEDD8-D71F-B0E4-6A7E-70E170251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2B5F9-D59E-A797-AA4C-185787626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40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4CDD1-AD94-AE0C-9B0E-6859E20F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5E9EFC-2579-F7AB-F8F3-57E6E1A6B0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5DEA1-BC19-0608-31D7-ABDB6620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62743-C9E9-BFCB-44DE-631B5EB7E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21A1D-BF27-0265-FCAD-F415FE260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681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7C415-551C-DF04-A76C-6A26396C3F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F7CA6E-24E6-227A-77C0-27757794F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C4E4-397D-064B-4D13-BA5CAB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F0406B-14BA-74DF-051A-921B037F5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8627C-C7F7-6B94-D622-CDD1E6FA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101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43E1B1-BFCB-D7FA-58A7-1039EAFA4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6C060-C5EA-ACEC-F2D9-F53753575D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56579-3446-EB24-D778-445EED18BF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47E980-CC5E-4129-8C41-91587A6FBA7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B0-7C79-9FDE-5FDD-FA4C4F2DD3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293B5-AA93-9B58-F233-9B08E616E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97A332-FDBF-4EFC-8F1C-49B0F8D0E6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93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ousehold-financial-web.vercel.app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ousehold-financial-web.vercel.app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F8D41-1D04-8D2F-AF96-64B955D9B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804528D-DC67-C38A-13D4-C7D567CA17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-87548"/>
            <a:ext cx="12192000" cy="683991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A98ACBF-5329-309B-78C9-1FC84B7E9299}"/>
              </a:ext>
            </a:extLst>
          </p:cNvPr>
          <p:cNvSpPr/>
          <p:nvPr/>
        </p:nvSpPr>
        <p:spPr>
          <a:xfrm>
            <a:off x="536463" y="356083"/>
            <a:ext cx="6443133" cy="30638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6000"/>
              </a:lnSpc>
            </a:pPr>
            <a:r>
              <a:rPr lang="en-US" sz="7200" b="1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Household Finance Intelligence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6CD088-65B0-1276-AD9A-FAD5F78F7C5C}"/>
              </a:ext>
            </a:extLst>
          </p:cNvPr>
          <p:cNvSpPr/>
          <p:nvPr/>
        </p:nvSpPr>
        <p:spPr>
          <a:xfrm>
            <a:off x="-78903" y="4742359"/>
            <a:ext cx="7335737" cy="63460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6000"/>
              </a:lnSpc>
            </a:pPr>
            <a:r>
              <a:rPr lang="en-US" sz="2500" b="1" dirty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https://household-financial-web.vercel.app/</a:t>
            </a:r>
            <a:endParaRPr lang="en-US" sz="2500" b="1" dirty="0"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AE1545-D96E-51DC-71B1-FC63C50BD4FC}"/>
              </a:ext>
            </a:extLst>
          </p:cNvPr>
          <p:cNvSpPr/>
          <p:nvPr/>
        </p:nvSpPr>
        <p:spPr>
          <a:xfrm>
            <a:off x="-78903" y="3118648"/>
            <a:ext cx="6443134" cy="142996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6000"/>
              </a:lnSpc>
            </a:pPr>
            <a:r>
              <a:rPr lang="en-US" sz="3000" b="1" dirty="0">
                <a:solidFill>
                  <a:srgbClr val="055E55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MAKE YOUR FINANCE CONTROLABLE AND PREDICTABLE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2199F3-5D0C-5434-2608-CB8D197ACD0F}"/>
              </a:ext>
            </a:extLst>
          </p:cNvPr>
          <p:cNvSpPr/>
          <p:nvPr/>
        </p:nvSpPr>
        <p:spPr>
          <a:xfrm>
            <a:off x="341099" y="5677774"/>
            <a:ext cx="2801565" cy="86133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6000"/>
              </a:lnSpc>
            </a:pPr>
            <a:r>
              <a:rPr lang="en-US" sz="3000" b="1" dirty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Chris Dang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3E9550-AF95-231E-2A92-CFC0E50AE19D}"/>
              </a:ext>
            </a:extLst>
          </p:cNvPr>
          <p:cNvSpPr/>
          <p:nvPr/>
        </p:nvSpPr>
        <p:spPr>
          <a:xfrm>
            <a:off x="9540222" y="5752352"/>
            <a:ext cx="2801565" cy="86133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6000"/>
              </a:lnSpc>
            </a:pPr>
            <a:r>
              <a:rPr lang="en-US" sz="3000" b="1" dirty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2026/06/24</a:t>
            </a:r>
          </a:p>
        </p:txBody>
      </p:sp>
    </p:spTree>
    <p:extLst>
      <p:ext uri="{BB962C8B-B14F-4D97-AF65-F5344CB8AC3E}">
        <p14:creationId xmlns:p14="http://schemas.microsoft.com/office/powerpoint/2010/main" val="852969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55F1BD-EE83-AB48-D5A2-239353BBA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7193" cy="6849476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284BB6-AE6B-246F-78F9-3093156E6E73}"/>
              </a:ext>
            </a:extLst>
          </p:cNvPr>
          <p:cNvSpPr/>
          <p:nvPr/>
        </p:nvSpPr>
        <p:spPr>
          <a:xfrm>
            <a:off x="5698067" y="319615"/>
            <a:ext cx="6180666" cy="1413933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C60B979-0C38-C40C-C9F1-2DA69D39BCE5}"/>
              </a:ext>
            </a:extLst>
          </p:cNvPr>
          <p:cNvGrpSpPr/>
          <p:nvPr/>
        </p:nvGrpSpPr>
        <p:grpSpPr>
          <a:xfrm>
            <a:off x="5901267" y="497414"/>
            <a:ext cx="5825066" cy="1058333"/>
            <a:chOff x="7315200" y="1075267"/>
            <a:chExt cx="3429000" cy="838200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B1364E2-3D2D-C494-EC91-F6AE0F08BF06}"/>
                </a:ext>
              </a:extLst>
            </p:cNvPr>
            <p:cNvCxnSpPr>
              <a:cxnSpLocks/>
            </p:cNvCxnSpPr>
            <p:nvPr/>
          </p:nvCxnSpPr>
          <p:spPr>
            <a:xfrm>
              <a:off x="7315200" y="1913467"/>
              <a:ext cx="3412067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24D40FB-C414-DD8E-9A4F-F60065CE77E9}"/>
                </a:ext>
              </a:extLst>
            </p:cNvPr>
            <p:cNvGrpSpPr/>
            <p:nvPr/>
          </p:nvGrpSpPr>
          <p:grpSpPr>
            <a:xfrm>
              <a:off x="7315200" y="1075267"/>
              <a:ext cx="3429000" cy="838200"/>
              <a:chOff x="7315200" y="1075267"/>
              <a:chExt cx="3429000" cy="83820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3258AF6D-A1CC-F65E-280B-F30ABB3C81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5200" y="1075267"/>
                <a:ext cx="3412067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7CD9DB1E-C39C-A50A-2868-BC98E8A6FD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4200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32C18B3-6F29-B6D7-6853-76C13ED999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3667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9B238BE-E2E5-7313-7B0D-61343EEC470C}"/>
              </a:ext>
            </a:extLst>
          </p:cNvPr>
          <p:cNvSpPr/>
          <p:nvPr/>
        </p:nvSpPr>
        <p:spPr>
          <a:xfrm>
            <a:off x="129928" y="163782"/>
            <a:ext cx="4702062" cy="11062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4000"/>
              </a:lnSpc>
            </a:pPr>
            <a:r>
              <a:rPr lang="en-US" sz="3000" b="1" dirty="0">
                <a:solidFill>
                  <a:srgbClr val="055E55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Why Household Finance Intelligence matters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314AFA-FE17-0E46-584F-307BADDE1D6D}"/>
              </a:ext>
            </a:extLst>
          </p:cNvPr>
          <p:cNvSpPr/>
          <p:nvPr/>
        </p:nvSpPr>
        <p:spPr>
          <a:xfrm>
            <a:off x="5722488" y="1907112"/>
            <a:ext cx="6180666" cy="1413933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3A458FF-8605-325A-B535-9664C86DC66D}"/>
              </a:ext>
            </a:extLst>
          </p:cNvPr>
          <p:cNvGrpSpPr/>
          <p:nvPr/>
        </p:nvGrpSpPr>
        <p:grpSpPr>
          <a:xfrm>
            <a:off x="5901267" y="2084911"/>
            <a:ext cx="5825066" cy="1058333"/>
            <a:chOff x="7315200" y="1075267"/>
            <a:chExt cx="3429000" cy="83820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DE18FE6-7922-9D3E-8514-A1A791015CA2}"/>
                </a:ext>
              </a:extLst>
            </p:cNvPr>
            <p:cNvCxnSpPr>
              <a:cxnSpLocks/>
            </p:cNvCxnSpPr>
            <p:nvPr/>
          </p:nvCxnSpPr>
          <p:spPr>
            <a:xfrm>
              <a:off x="7315200" y="1913467"/>
              <a:ext cx="3412067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9DEBF11-433D-0222-1091-BA0E6AC63C21}"/>
                </a:ext>
              </a:extLst>
            </p:cNvPr>
            <p:cNvGrpSpPr/>
            <p:nvPr/>
          </p:nvGrpSpPr>
          <p:grpSpPr>
            <a:xfrm>
              <a:off x="7315200" y="1075267"/>
              <a:ext cx="3429000" cy="838200"/>
              <a:chOff x="7315200" y="1075267"/>
              <a:chExt cx="3429000" cy="838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E79FFB-F95E-1122-4798-5975E59EC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5200" y="1075267"/>
                <a:ext cx="3412067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407DB84-8638-1D7C-9901-5CA71B0BD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4200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FA2A8D5-97DF-FD7D-48F2-5AC8FDBF0C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3667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9F5B7306-B356-EB3D-9F6F-A0089B00AFE0}"/>
              </a:ext>
            </a:extLst>
          </p:cNvPr>
          <p:cNvSpPr/>
          <p:nvPr/>
        </p:nvSpPr>
        <p:spPr>
          <a:xfrm>
            <a:off x="5698067" y="3471276"/>
            <a:ext cx="6180666" cy="1413933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31FB921-939D-B818-08D0-AE7CF982394D}"/>
              </a:ext>
            </a:extLst>
          </p:cNvPr>
          <p:cNvGrpSpPr/>
          <p:nvPr/>
        </p:nvGrpSpPr>
        <p:grpSpPr>
          <a:xfrm>
            <a:off x="5901267" y="3649075"/>
            <a:ext cx="5825066" cy="1058333"/>
            <a:chOff x="7315200" y="1075267"/>
            <a:chExt cx="3429000" cy="838200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9AA9C0A-B0DE-8872-77CE-EBAFBBA28413}"/>
                </a:ext>
              </a:extLst>
            </p:cNvPr>
            <p:cNvCxnSpPr>
              <a:cxnSpLocks/>
            </p:cNvCxnSpPr>
            <p:nvPr/>
          </p:nvCxnSpPr>
          <p:spPr>
            <a:xfrm>
              <a:off x="7315200" y="1913467"/>
              <a:ext cx="3412067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D6835DD-1635-B268-D865-3912CFC985FF}"/>
                </a:ext>
              </a:extLst>
            </p:cNvPr>
            <p:cNvGrpSpPr/>
            <p:nvPr/>
          </p:nvGrpSpPr>
          <p:grpSpPr>
            <a:xfrm>
              <a:off x="7315200" y="1075267"/>
              <a:ext cx="3429000" cy="838200"/>
              <a:chOff x="7315200" y="1075267"/>
              <a:chExt cx="3429000" cy="838200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052CFD3B-2BEA-2CB0-BA0F-5CCA9BD557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5200" y="1075267"/>
                <a:ext cx="3412067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2E50F6FA-EB60-095A-55C7-1D5FF183E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4200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CEC5C8BA-DCB6-0B6D-3A6E-2B603A6BB0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3667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80E825AD-920D-F26F-D766-4392991561A4}"/>
              </a:ext>
            </a:extLst>
          </p:cNvPr>
          <p:cNvSpPr/>
          <p:nvPr/>
        </p:nvSpPr>
        <p:spPr>
          <a:xfrm>
            <a:off x="5698067" y="5035440"/>
            <a:ext cx="6180666" cy="1413933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BFC814D-8316-A84E-E8B9-0F902AACF17C}"/>
              </a:ext>
            </a:extLst>
          </p:cNvPr>
          <p:cNvGrpSpPr/>
          <p:nvPr/>
        </p:nvGrpSpPr>
        <p:grpSpPr>
          <a:xfrm>
            <a:off x="5901267" y="5213239"/>
            <a:ext cx="5825066" cy="1058333"/>
            <a:chOff x="7315200" y="1075267"/>
            <a:chExt cx="3429000" cy="838200"/>
          </a:xfrm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9D0AA90-BB3A-E20B-9C2D-456D4CFB6517}"/>
                </a:ext>
              </a:extLst>
            </p:cNvPr>
            <p:cNvCxnSpPr>
              <a:cxnSpLocks/>
            </p:cNvCxnSpPr>
            <p:nvPr/>
          </p:nvCxnSpPr>
          <p:spPr>
            <a:xfrm>
              <a:off x="7315200" y="1913467"/>
              <a:ext cx="3412067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1AC7C78-CF81-B05D-35FF-FBAAC8CEA458}"/>
                </a:ext>
              </a:extLst>
            </p:cNvPr>
            <p:cNvGrpSpPr/>
            <p:nvPr/>
          </p:nvGrpSpPr>
          <p:grpSpPr>
            <a:xfrm>
              <a:off x="7315200" y="1075267"/>
              <a:ext cx="3429000" cy="838200"/>
              <a:chOff x="7315200" y="1075267"/>
              <a:chExt cx="3429000" cy="838200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15F5227-4404-3FE7-9130-B7D0B61A09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5200" y="1075267"/>
                <a:ext cx="3412067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634BF405-08D5-F728-5132-75C2C70A7E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4200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87762E0A-7093-B7D6-8292-CAD8261222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3667" y="1075267"/>
                <a:ext cx="0" cy="83820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AFFECEAA-BFE2-B53B-89F5-3E5F18213FEA}"/>
              </a:ext>
            </a:extLst>
          </p:cNvPr>
          <p:cNvSpPr/>
          <p:nvPr/>
        </p:nvSpPr>
        <p:spPr>
          <a:xfrm>
            <a:off x="5968995" y="702733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4E6CA29-1937-F4CA-648D-BF442724525A}"/>
              </a:ext>
            </a:extLst>
          </p:cNvPr>
          <p:cNvSpPr/>
          <p:nvPr/>
        </p:nvSpPr>
        <p:spPr>
          <a:xfrm>
            <a:off x="6035824" y="2317799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AE41399-ABD1-7F80-DEB5-40492DAC6C33}"/>
              </a:ext>
            </a:extLst>
          </p:cNvPr>
          <p:cNvSpPr/>
          <p:nvPr/>
        </p:nvSpPr>
        <p:spPr>
          <a:xfrm>
            <a:off x="6035824" y="3799307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03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8CD2DB5-A20A-7206-08E0-CB397F51C1C1}"/>
              </a:ext>
            </a:extLst>
          </p:cNvPr>
          <p:cNvSpPr/>
          <p:nvPr/>
        </p:nvSpPr>
        <p:spPr>
          <a:xfrm>
            <a:off x="6035824" y="5418558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04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50F3FEE-4540-B298-6BA5-E445D4C1EBDD}"/>
              </a:ext>
            </a:extLst>
          </p:cNvPr>
          <p:cNvSpPr/>
          <p:nvPr/>
        </p:nvSpPr>
        <p:spPr>
          <a:xfrm>
            <a:off x="6705601" y="586427"/>
            <a:ext cx="4908117" cy="9205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Our money is everywhere</a:t>
            </a:r>
          </a:p>
          <a:p>
            <a:r>
              <a:rPr lang="en-US" sz="1400" dirty="0"/>
              <a:t>Bills, pay stubs, bank apps, and spreadsheets don’t talk to each other. There is no </a:t>
            </a:r>
            <a:r>
              <a:rPr lang="en-US" sz="1400" b="1" dirty="0"/>
              <a:t>single place</a:t>
            </a:r>
            <a:r>
              <a:rPr lang="en-US" sz="1400" dirty="0"/>
              <a:t> to see income, expenses, and obligations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2EB5236-E8DA-24D7-764F-7B0A3C8E1FF0}"/>
              </a:ext>
            </a:extLst>
          </p:cNvPr>
          <p:cNvSpPr/>
          <p:nvPr/>
        </p:nvSpPr>
        <p:spPr>
          <a:xfrm>
            <a:off x="6705600" y="2106360"/>
            <a:ext cx="5211937" cy="9205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Simple questions are hard to answer</a:t>
            </a:r>
          </a:p>
          <a:p>
            <a:r>
              <a:rPr lang="en-US" sz="1400" dirty="0"/>
              <a:t>Can my family afford a $20K travel to China in July?</a:t>
            </a:r>
          </a:p>
          <a:p>
            <a:r>
              <a:rPr lang="en-US" sz="1400" dirty="0"/>
              <a:t>How much contributions have been made into RESP, TFSA, RRSP?</a:t>
            </a:r>
          </a:p>
          <a:p>
            <a:r>
              <a:rPr lang="en-US" sz="1400" dirty="0"/>
              <a:t>Do I have enough cash for 2</a:t>
            </a:r>
            <a:r>
              <a:rPr lang="en-US" sz="1400" baseline="30000" dirty="0"/>
              <a:t>nd</a:t>
            </a:r>
            <a:r>
              <a:rPr lang="en-US" sz="1400" dirty="0"/>
              <a:t> installment of property tax in June? 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2F6801C-33DA-DE49-FC0A-C68E06298021}"/>
              </a:ext>
            </a:extLst>
          </p:cNvPr>
          <p:cNvSpPr/>
          <p:nvPr/>
        </p:nvSpPr>
        <p:spPr>
          <a:xfrm>
            <a:off x="6705601" y="3670385"/>
            <a:ext cx="4908117" cy="9205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Documents don’t become usable data</a:t>
            </a:r>
          </a:p>
          <a:p>
            <a:r>
              <a:rPr lang="en-CA" sz="1400" dirty="0"/>
              <a:t>PDFs and statements sit in email/letter, insurance, car lease, tax notices — and you still dig them out manually</a:t>
            </a:r>
            <a:endParaRPr lang="en-US" sz="14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434F260-4CEB-10F7-9C9D-B22ED35C67C9}"/>
              </a:ext>
            </a:extLst>
          </p:cNvPr>
          <p:cNvSpPr/>
          <p:nvPr/>
        </p:nvSpPr>
        <p:spPr>
          <a:xfrm>
            <a:off x="6781725" y="5240379"/>
            <a:ext cx="4908117" cy="9205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need answers on the go</a:t>
            </a:r>
          </a:p>
          <a:p>
            <a:r>
              <a:rPr lang="en-US" sz="1400" dirty="0"/>
              <a:t>How can we know our disposable assets without counting all kinds of accounts in different banks? How can we our investments performance in one shot?</a:t>
            </a: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BEDB327B-6169-169C-62AB-F63C604ED206}"/>
              </a:ext>
            </a:extLst>
          </p:cNvPr>
          <p:cNvSpPr/>
          <p:nvPr/>
        </p:nvSpPr>
        <p:spPr>
          <a:xfrm>
            <a:off x="262468" y="1377947"/>
            <a:ext cx="1735666" cy="1106219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Couples / households</a:t>
            </a:r>
            <a:endParaRPr lang="en-US" dirty="0"/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392221D3-E7D8-D97E-924F-6FB91F79DEB2}"/>
              </a:ext>
            </a:extLst>
          </p:cNvPr>
          <p:cNvSpPr/>
          <p:nvPr/>
        </p:nvSpPr>
        <p:spPr>
          <a:xfrm>
            <a:off x="2847603" y="1377946"/>
            <a:ext cx="1735666" cy="1106219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Self- employment</a:t>
            </a:r>
            <a:endParaRPr lang="en-US" dirty="0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29624A32-2DBE-50F4-F694-F47A19611BD2}"/>
              </a:ext>
            </a:extLst>
          </p:cNvPr>
          <p:cNvSpPr/>
          <p:nvPr/>
        </p:nvSpPr>
        <p:spPr>
          <a:xfrm>
            <a:off x="104967" y="2592110"/>
            <a:ext cx="5345921" cy="410210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2500"/>
              </a:lnSpc>
            </a:pPr>
            <a:r>
              <a:rPr lang="en-US" b="1" i="1" dirty="0">
                <a:solidFill>
                  <a:schemeClr val="tx1"/>
                </a:solidFill>
              </a:rPr>
              <a:t>Households struggle to turn scattered documents and transactions into trustworthy answers about cash flow, obligations.</a:t>
            </a:r>
          </a:p>
          <a:p>
            <a:pPr>
              <a:lnSpc>
                <a:spcPts val="2500"/>
              </a:lnSpc>
            </a:pPr>
            <a:r>
              <a:rPr lang="en-US" b="1" i="1" dirty="0">
                <a:solidFill>
                  <a:schemeClr val="tx1"/>
                </a:solidFill>
              </a:rPr>
              <a:t> </a:t>
            </a:r>
          </a:p>
          <a:p>
            <a:pPr>
              <a:lnSpc>
                <a:spcPts val="2500"/>
              </a:lnSpc>
            </a:pPr>
            <a:r>
              <a:rPr lang="en-US" b="1" i="1" dirty="0">
                <a:solidFill>
                  <a:schemeClr val="tx1"/>
                </a:solidFill>
              </a:rPr>
              <a:t>Generic AI chatbots are unsafe for money because they hallucinate numbers.</a:t>
            </a:r>
          </a:p>
          <a:p>
            <a:pPr>
              <a:lnSpc>
                <a:spcPts val="2500"/>
              </a:lnSpc>
            </a:pPr>
            <a:endParaRPr lang="en-US" b="1" i="1" dirty="0">
              <a:solidFill>
                <a:schemeClr val="tx1"/>
              </a:solidFill>
            </a:endParaRPr>
          </a:p>
          <a:p>
            <a:pPr>
              <a:lnSpc>
                <a:spcPts val="2500"/>
              </a:lnSpc>
            </a:pPr>
            <a:r>
              <a:rPr lang="en-US" b="1" i="1" dirty="0">
                <a:solidFill>
                  <a:schemeClr val="tx1"/>
                </a:solidFill>
              </a:rPr>
              <a:t> Household Financial Intelligence solves this with a canonical ledger, deterministic forecasting, human-reviewed document ingestion, and AI limited to explanation — delivered via web UI and Telegram.</a:t>
            </a:r>
            <a:endParaRPr lang="en-US" b="1" dirty="0">
              <a:solidFill>
                <a:schemeClr val="tx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6767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4070D-E1AC-BE81-9426-11CB9DEF8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C854A3-F179-3E11-CA31-9CBEFF3EC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193" y="0"/>
            <a:ext cx="12207193" cy="684947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B933BA6-E8CF-00F8-2291-CA9F13C4FD9F}"/>
              </a:ext>
            </a:extLst>
          </p:cNvPr>
          <p:cNvSpPr/>
          <p:nvPr/>
        </p:nvSpPr>
        <p:spPr>
          <a:xfrm>
            <a:off x="4004733" y="73454"/>
            <a:ext cx="3903134" cy="65748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0"/>
              </a:lnSpc>
            </a:pPr>
            <a:r>
              <a:rPr lang="en-US" sz="4400" b="1" dirty="0">
                <a:solidFill>
                  <a:srgbClr val="055E55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hlinkClick r:id="rId3"/>
              </a:rPr>
              <a:t>Solution</a:t>
            </a:r>
            <a:endParaRPr lang="en-US" sz="4400" b="1" dirty="0">
              <a:solidFill>
                <a:srgbClr val="055E55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362BCF-2930-226D-F026-790A9CDA6742}"/>
              </a:ext>
            </a:extLst>
          </p:cNvPr>
          <p:cNvSpPr/>
          <p:nvPr/>
        </p:nvSpPr>
        <p:spPr>
          <a:xfrm>
            <a:off x="363225" y="772214"/>
            <a:ext cx="5477932" cy="5988677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2470D9F-E064-C326-FD29-141CE8B4F07F}"/>
              </a:ext>
            </a:extLst>
          </p:cNvPr>
          <p:cNvCxnSpPr/>
          <p:nvPr/>
        </p:nvCxnSpPr>
        <p:spPr>
          <a:xfrm>
            <a:off x="863600" y="883279"/>
            <a:ext cx="0" cy="5901266"/>
          </a:xfrm>
          <a:prstGeom prst="line">
            <a:avLst/>
          </a:prstGeom>
          <a:ln w="1905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777282C-C740-2FE2-8165-C5BB8CF538BF}"/>
              </a:ext>
            </a:extLst>
          </p:cNvPr>
          <p:cNvSpPr/>
          <p:nvPr/>
        </p:nvSpPr>
        <p:spPr>
          <a:xfrm>
            <a:off x="1054138" y="795868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01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9B02A21-92FD-4B4A-CB5C-80E4713351E8}"/>
              </a:ext>
            </a:extLst>
          </p:cNvPr>
          <p:cNvSpPr/>
          <p:nvPr/>
        </p:nvSpPr>
        <p:spPr>
          <a:xfrm>
            <a:off x="6383868" y="772214"/>
            <a:ext cx="5556626" cy="5988677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E0A84B-E3C2-485E-F0C1-EBFD8692D23F}"/>
              </a:ext>
            </a:extLst>
          </p:cNvPr>
          <p:cNvCxnSpPr/>
          <p:nvPr/>
        </p:nvCxnSpPr>
        <p:spPr>
          <a:xfrm>
            <a:off x="6894361" y="883279"/>
            <a:ext cx="0" cy="5901266"/>
          </a:xfrm>
          <a:prstGeom prst="line">
            <a:avLst/>
          </a:prstGeom>
          <a:ln w="1905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9630D43-19A8-480B-6727-41672D99555E}"/>
              </a:ext>
            </a:extLst>
          </p:cNvPr>
          <p:cNvSpPr/>
          <p:nvPr/>
        </p:nvSpPr>
        <p:spPr>
          <a:xfrm>
            <a:off x="7021435" y="772214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7C9118-0678-3A94-5CF0-6BBE0AE2E746}"/>
              </a:ext>
            </a:extLst>
          </p:cNvPr>
          <p:cNvSpPr/>
          <p:nvPr/>
        </p:nvSpPr>
        <p:spPr>
          <a:xfrm>
            <a:off x="1054137" y="1526807"/>
            <a:ext cx="4593123" cy="19868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One financial truth in Postgres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Manual entry → </a:t>
            </a:r>
            <a:r>
              <a:rPr lang="en-US" sz="1600" b="1" dirty="0" err="1"/>
              <a:t>FinancialEvent</a:t>
            </a:r>
            <a:r>
              <a:rPr lang="en-US" sz="1600" dirty="0"/>
              <a:t> (ledger)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Upload PDFs → extract </a:t>
            </a:r>
            <a:r>
              <a:rPr lang="en-US" sz="1600" b="1" dirty="0" err="1"/>
              <a:t>FinancialObligation</a:t>
            </a:r>
            <a:r>
              <a:rPr lang="en-US" sz="1600" dirty="0"/>
              <a:t> → confirm → </a:t>
            </a:r>
            <a:r>
              <a:rPr lang="en-US" sz="1600" b="1" dirty="0" err="1"/>
              <a:t>FinancialEvent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Forecast &amp; Q&amp;A read the same ledger — no duplicate spreadsheets</a:t>
            </a:r>
          </a:p>
          <a:p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0D5C23-A6C6-5603-C6B3-007163800BA4}"/>
              </a:ext>
            </a:extLst>
          </p:cNvPr>
          <p:cNvSpPr/>
          <p:nvPr/>
        </p:nvSpPr>
        <p:spPr>
          <a:xfrm>
            <a:off x="1501168" y="882481"/>
            <a:ext cx="3570365" cy="5886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Centralize data in PostgreSQL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D8231A7-AA29-B4CA-86AF-61AD1B91A908}"/>
              </a:ext>
            </a:extLst>
          </p:cNvPr>
          <p:cNvSpPr/>
          <p:nvPr/>
        </p:nvSpPr>
        <p:spPr>
          <a:xfrm>
            <a:off x="960566" y="3433491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E2435-88A5-A342-BD71-6E1E14950C7F}"/>
              </a:ext>
            </a:extLst>
          </p:cNvPr>
          <p:cNvSpPr/>
          <p:nvPr/>
        </p:nvSpPr>
        <p:spPr>
          <a:xfrm>
            <a:off x="960565" y="3902548"/>
            <a:ext cx="4593123" cy="19868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Plaid Direct API</a:t>
            </a:r>
            <a:r>
              <a:rPr lang="en-US" sz="1600" dirty="0"/>
              <a:t> for linked bank accounts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Sync balances → </a:t>
            </a:r>
            <a:r>
              <a:rPr lang="en-US" sz="1600" b="1" dirty="0" err="1"/>
              <a:t>current_cash</a:t>
            </a:r>
            <a:r>
              <a:rPr lang="en-US" sz="1600" dirty="0"/>
              <a:t> (checking) + balance history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Ledger + Plaid → </a:t>
            </a:r>
            <a:r>
              <a:rPr lang="en-US" sz="1600" b="1" dirty="0"/>
              <a:t>6‑month forecast</a:t>
            </a:r>
            <a:r>
              <a:rPr lang="en-US" sz="1600" dirty="0"/>
              <a:t> and </a:t>
            </a:r>
            <a:r>
              <a:rPr lang="en-US" sz="1600" b="1" dirty="0"/>
              <a:t>disposable assets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Scenario Chat:</a:t>
            </a:r>
            <a:r>
              <a:rPr lang="en-US" sz="1600" dirty="0"/>
              <a:t> engines compute; </a:t>
            </a:r>
            <a:r>
              <a:rPr lang="en-US" sz="1600" b="1" dirty="0"/>
              <a:t>AI explains</a:t>
            </a:r>
            <a:r>
              <a:rPr lang="en-US" sz="1600" dirty="0"/>
              <a:t> in plain language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984734-FD17-62F4-13E8-009C0BAFA7AA}"/>
              </a:ext>
            </a:extLst>
          </p:cNvPr>
          <p:cNvSpPr/>
          <p:nvPr/>
        </p:nvSpPr>
        <p:spPr>
          <a:xfrm>
            <a:off x="1640392" y="3429000"/>
            <a:ext cx="3693169" cy="6797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Live balances with Plaid + AI Q&amp;A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1D797C-FEEC-C0D5-037A-7837D4E1ED9C}"/>
              </a:ext>
            </a:extLst>
          </p:cNvPr>
          <p:cNvSpPr/>
          <p:nvPr/>
        </p:nvSpPr>
        <p:spPr>
          <a:xfrm>
            <a:off x="7111606" y="3428944"/>
            <a:ext cx="685725" cy="6752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755FF9-B13B-08DE-9C5A-8BF7D235A516}"/>
              </a:ext>
            </a:extLst>
          </p:cNvPr>
          <p:cNvSpPr/>
          <p:nvPr/>
        </p:nvSpPr>
        <p:spPr>
          <a:xfrm>
            <a:off x="7114574" y="3902548"/>
            <a:ext cx="4593123" cy="26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i="1" dirty="0"/>
              <a:t>Prod</a:t>
            </a:r>
            <a:r>
              <a:rPr lang="en-US" sz="1600" i="1" dirty="0"/>
              <a:t>: Telegram → </a:t>
            </a:r>
            <a:r>
              <a:rPr lang="en-US" sz="1600" b="1" i="1" dirty="0"/>
              <a:t>n8n on Railway</a:t>
            </a:r>
            <a:r>
              <a:rPr lang="en-US" sz="1600" i="1" dirty="0"/>
              <a:t> → </a:t>
            </a:r>
            <a:r>
              <a:rPr lang="en-US" sz="1600" b="1" i="1" dirty="0" err="1"/>
              <a:t>Vercel</a:t>
            </a:r>
            <a:r>
              <a:rPr lang="en-US" sz="1600" b="1" i="1" dirty="0"/>
              <a:t> API</a:t>
            </a:r>
            <a:r>
              <a:rPr lang="en-US" sz="1600" i="1" dirty="0"/>
              <a:t> → Telegram</a:t>
            </a:r>
            <a:br>
              <a:rPr lang="en-US" sz="1600" dirty="0"/>
            </a:br>
            <a:r>
              <a:rPr lang="en-US" sz="1600" b="1" i="1" dirty="0"/>
              <a:t>Dev:</a:t>
            </a:r>
            <a:r>
              <a:rPr lang="en-US" sz="1600" i="1" dirty="0"/>
              <a:t> swap Railway for </a:t>
            </a:r>
            <a:r>
              <a:rPr lang="en-US" sz="1600" b="1" i="1" dirty="0" err="1"/>
              <a:t>ngrok</a:t>
            </a:r>
            <a:r>
              <a:rPr lang="en-US" sz="1600" b="1" i="1" dirty="0"/>
              <a:t> → local n8n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n8n: bot webhook + workflows (Q&amp;A, ledger, monthly Plaid sync)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Vercel</a:t>
            </a:r>
            <a:r>
              <a:rPr lang="en-US" sz="1600" dirty="0"/>
              <a:t>: secured routes (AUTOMATION_WEBHOOK_TOKEN) — same logic as /simulation and /ledger</a:t>
            </a:r>
          </a:p>
          <a:p>
            <a:endParaRPr lang="en-US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ADC660-5E09-5F61-C75E-CC821BC27C05}"/>
              </a:ext>
            </a:extLst>
          </p:cNvPr>
          <p:cNvSpPr/>
          <p:nvPr/>
        </p:nvSpPr>
        <p:spPr>
          <a:xfrm>
            <a:off x="7707160" y="3458796"/>
            <a:ext cx="3693169" cy="597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Telegram on the go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DBFB60-B757-C58E-9184-DF3CE549619D}"/>
              </a:ext>
            </a:extLst>
          </p:cNvPr>
          <p:cNvSpPr/>
          <p:nvPr/>
        </p:nvSpPr>
        <p:spPr>
          <a:xfrm>
            <a:off x="7114574" y="1624145"/>
            <a:ext cx="4593123" cy="15085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Upload once, use two ways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RAG</a:t>
            </a:r>
            <a:r>
              <a:rPr lang="en-US" sz="1600" dirty="0"/>
              <a:t> (Postgres + embeddings) → AI retrieves contract/tax bill text at question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Obsidian wiki</a:t>
            </a:r>
            <a:r>
              <a:rPr lang="en-US" sz="1600" dirty="0"/>
              <a:t> → human-readable notes &amp; links for you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Files in </a:t>
            </a:r>
            <a:r>
              <a:rPr lang="en-US" sz="1600" b="1" dirty="0"/>
              <a:t>Blob/local storage</a:t>
            </a:r>
            <a:r>
              <a:rPr lang="en-US" sz="1600" dirty="0"/>
              <a:t>; structured amounts still land in the </a:t>
            </a:r>
            <a:r>
              <a:rPr lang="en-US" sz="1600" b="1" dirty="0"/>
              <a:t>ledger</a:t>
            </a:r>
            <a:endParaRPr lang="en-US" sz="16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BC1A8D-5FF5-D289-4778-6E92BBA09686}"/>
              </a:ext>
            </a:extLst>
          </p:cNvPr>
          <p:cNvSpPr/>
          <p:nvPr/>
        </p:nvSpPr>
        <p:spPr>
          <a:xfrm>
            <a:off x="7707160" y="862239"/>
            <a:ext cx="3693169" cy="5886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Documents: RAG + Obsidian</a:t>
            </a:r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8391389-4813-13E9-F18F-FC5C9391E875}"/>
              </a:ext>
            </a:extLst>
          </p:cNvPr>
          <p:cNvSpPr/>
          <p:nvPr/>
        </p:nvSpPr>
        <p:spPr>
          <a:xfrm>
            <a:off x="3454400" y="49800"/>
            <a:ext cx="8813800" cy="63460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6000"/>
              </a:lnSpc>
            </a:pPr>
            <a:endParaRPr lang="en-US" sz="2500" b="1" dirty="0"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33691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33246-4144-1FBE-6DC4-724B430FA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CF2755-42E9-CAF5-4DD7-A408D1F1B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7193" cy="684947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9AF512-69BC-DF6F-081F-6F4A2F75BDD3}"/>
              </a:ext>
            </a:extLst>
          </p:cNvPr>
          <p:cNvSpPr/>
          <p:nvPr/>
        </p:nvSpPr>
        <p:spPr>
          <a:xfrm>
            <a:off x="3928531" y="-8491"/>
            <a:ext cx="4131734" cy="57432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0"/>
              </a:lnSpc>
            </a:pPr>
            <a:r>
              <a:rPr lang="en-US" sz="4400" b="1" dirty="0">
                <a:solidFill>
                  <a:srgbClr val="055E55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How it works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1F6F30-8C62-DB2E-E501-64C58487D56D}"/>
              </a:ext>
            </a:extLst>
          </p:cNvPr>
          <p:cNvSpPr/>
          <p:nvPr/>
        </p:nvSpPr>
        <p:spPr>
          <a:xfrm>
            <a:off x="494428" y="1065996"/>
            <a:ext cx="2821143" cy="1094145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Upload             PostgreSQL</a:t>
            </a:r>
          </a:p>
          <a:p>
            <a:r>
              <a:rPr lang="en-US" dirty="0"/>
              <a:t>Type                    ( ledger </a:t>
            </a:r>
          </a:p>
          <a:p>
            <a:r>
              <a:rPr lang="en-US" dirty="0"/>
              <a:t>link bank           + history)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45E77B-7B42-8A7E-64FC-0CE8C7087F90}"/>
              </a:ext>
            </a:extLst>
          </p:cNvPr>
          <p:cNvSpPr/>
          <p:nvPr/>
        </p:nvSpPr>
        <p:spPr>
          <a:xfrm>
            <a:off x="4287615" y="1030813"/>
            <a:ext cx="3158065" cy="1094144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Engines (forecast, lookup, Plaid)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0B74FF-4A5B-A8D0-239C-C5BF64C5133C}"/>
              </a:ext>
            </a:extLst>
          </p:cNvPr>
          <p:cNvSpPr/>
          <p:nvPr/>
        </p:nvSpPr>
        <p:spPr>
          <a:xfrm>
            <a:off x="8398065" y="972524"/>
            <a:ext cx="2744063" cy="1187617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AI (explain + RAG) — never invents totals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5F299C-A332-ED87-5830-7693D5B36507}"/>
              </a:ext>
            </a:extLst>
          </p:cNvPr>
          <p:cNvCxnSpPr>
            <a:cxnSpLocks/>
          </p:cNvCxnSpPr>
          <p:nvPr/>
        </p:nvCxnSpPr>
        <p:spPr>
          <a:xfrm>
            <a:off x="3315571" y="1577884"/>
            <a:ext cx="988859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79077A-1AAE-8D36-6FCD-9A1D91A53B8F}"/>
              </a:ext>
            </a:extLst>
          </p:cNvPr>
          <p:cNvCxnSpPr>
            <a:cxnSpLocks/>
          </p:cNvCxnSpPr>
          <p:nvPr/>
        </p:nvCxnSpPr>
        <p:spPr>
          <a:xfrm>
            <a:off x="7425266" y="1566332"/>
            <a:ext cx="972799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C56BF-A335-5B24-AC0C-03BC4B0AA7F6}"/>
              </a:ext>
            </a:extLst>
          </p:cNvPr>
          <p:cNvSpPr/>
          <p:nvPr/>
        </p:nvSpPr>
        <p:spPr>
          <a:xfrm>
            <a:off x="5033430" y="2258942"/>
            <a:ext cx="1735666" cy="710540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600"/>
              </a:lnSpc>
            </a:pPr>
            <a:r>
              <a:rPr lang="en-US" b="1" dirty="0"/>
              <a:t>Household Finance Intelligence</a:t>
            </a: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E5BD9CD-29BB-A193-9726-9BB3FA88E1D0}"/>
              </a:ext>
            </a:extLst>
          </p:cNvPr>
          <p:cNvSpPr/>
          <p:nvPr/>
        </p:nvSpPr>
        <p:spPr>
          <a:xfrm>
            <a:off x="292097" y="3512008"/>
            <a:ext cx="1735666" cy="710540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600"/>
              </a:lnSpc>
            </a:pPr>
            <a:r>
              <a:rPr lang="en-US" b="1" dirty="0"/>
              <a:t>Documents</a:t>
            </a:r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B9054A-991D-F704-AAAA-FBF0AF165206}"/>
              </a:ext>
            </a:extLst>
          </p:cNvPr>
          <p:cNvSpPr/>
          <p:nvPr/>
        </p:nvSpPr>
        <p:spPr>
          <a:xfrm>
            <a:off x="5033430" y="3520499"/>
            <a:ext cx="1735666" cy="710540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600"/>
              </a:lnSpc>
            </a:pPr>
            <a:r>
              <a:rPr lang="en-US" b="1" dirty="0"/>
              <a:t>Live money</a:t>
            </a:r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E06EA0F-A1FD-50CA-8D37-2D5CEC9CDDFF}"/>
              </a:ext>
            </a:extLst>
          </p:cNvPr>
          <p:cNvSpPr/>
          <p:nvPr/>
        </p:nvSpPr>
        <p:spPr>
          <a:xfrm>
            <a:off x="10113805" y="3554669"/>
            <a:ext cx="1735666" cy="710540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600"/>
              </a:lnSpc>
            </a:pPr>
            <a:r>
              <a:rPr lang="en-US" b="1" dirty="0"/>
              <a:t>Ask questions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92FD03-4081-FA51-E085-1C643F8AEEF8}"/>
              </a:ext>
            </a:extLst>
          </p:cNvPr>
          <p:cNvCxnSpPr/>
          <p:nvPr/>
        </p:nvCxnSpPr>
        <p:spPr>
          <a:xfrm>
            <a:off x="1159930" y="3172686"/>
            <a:ext cx="0" cy="339322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195BAD9-3F25-BC7D-6C04-A0F09260643B}"/>
              </a:ext>
            </a:extLst>
          </p:cNvPr>
          <p:cNvCxnSpPr/>
          <p:nvPr/>
        </p:nvCxnSpPr>
        <p:spPr>
          <a:xfrm>
            <a:off x="5901263" y="3172686"/>
            <a:ext cx="0" cy="339322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6A5659-A96D-3E84-3431-26B1265EC3B0}"/>
              </a:ext>
            </a:extLst>
          </p:cNvPr>
          <p:cNvCxnSpPr/>
          <p:nvPr/>
        </p:nvCxnSpPr>
        <p:spPr>
          <a:xfrm>
            <a:off x="10981638" y="3215347"/>
            <a:ext cx="0" cy="339322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2B4CE0D-6822-F134-7938-1C4557A71F01}"/>
              </a:ext>
            </a:extLst>
          </p:cNvPr>
          <p:cNvCxnSpPr/>
          <p:nvPr/>
        </p:nvCxnSpPr>
        <p:spPr>
          <a:xfrm>
            <a:off x="1159930" y="3172686"/>
            <a:ext cx="9821708" cy="42661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1EED048-4F74-FD6F-B27F-23D91EB99C04}"/>
              </a:ext>
            </a:extLst>
          </p:cNvPr>
          <p:cNvCxnSpPr/>
          <p:nvPr/>
        </p:nvCxnSpPr>
        <p:spPr>
          <a:xfrm>
            <a:off x="5901263" y="2969482"/>
            <a:ext cx="0" cy="203204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AA4220-DFCB-5D14-7974-B725FE4F7A33}"/>
              </a:ext>
            </a:extLst>
          </p:cNvPr>
          <p:cNvSpPr/>
          <p:nvPr/>
        </p:nvSpPr>
        <p:spPr>
          <a:xfrm>
            <a:off x="762001" y="472501"/>
            <a:ext cx="2167467" cy="493187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Dev in Cursor </a:t>
            </a:r>
            <a:endParaRPr lang="en-US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93FD3B6-03DE-B347-EA04-13432AA4E68C}"/>
              </a:ext>
            </a:extLst>
          </p:cNvPr>
          <p:cNvSpPr/>
          <p:nvPr/>
        </p:nvSpPr>
        <p:spPr>
          <a:xfrm>
            <a:off x="4707467" y="453935"/>
            <a:ext cx="2167467" cy="493187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Deploy to </a:t>
            </a:r>
            <a:r>
              <a:rPr lang="en-US" b="1" dirty="0" err="1"/>
              <a:t>Github</a:t>
            </a:r>
            <a:endParaRPr lang="en-US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2C9E138A-F4F7-73A9-C013-CAB6150EE201}"/>
              </a:ext>
            </a:extLst>
          </p:cNvPr>
          <p:cNvSpPr/>
          <p:nvPr/>
        </p:nvSpPr>
        <p:spPr>
          <a:xfrm>
            <a:off x="8178799" y="448161"/>
            <a:ext cx="3031066" cy="493187"/>
          </a:xfrm>
          <a:prstGeom prst="roundRect">
            <a:avLst/>
          </a:prstGeom>
          <a:solidFill>
            <a:srgbClr val="0B9486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Vercel</a:t>
            </a:r>
            <a:r>
              <a:rPr lang="en-US" b="1" dirty="0"/>
              <a:t> connects to </a:t>
            </a:r>
            <a:r>
              <a:rPr lang="en-US" b="1" dirty="0" err="1"/>
              <a:t>Github</a:t>
            </a:r>
            <a:endParaRPr lang="en-US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1A2D8A7-7BC5-E3A4-9854-4E4C5E926DBD}"/>
              </a:ext>
            </a:extLst>
          </p:cNvPr>
          <p:cNvCxnSpPr/>
          <p:nvPr/>
        </p:nvCxnSpPr>
        <p:spPr>
          <a:xfrm>
            <a:off x="2942169" y="694755"/>
            <a:ext cx="1735665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C04F4E5-EEFA-52B8-E0B3-5C6BC2BEE69B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6867085" y="694754"/>
            <a:ext cx="1311714" cy="1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6C7BD33-5593-FB12-F16C-7589956292D1}"/>
              </a:ext>
            </a:extLst>
          </p:cNvPr>
          <p:cNvCxnSpPr/>
          <p:nvPr/>
        </p:nvCxnSpPr>
        <p:spPr>
          <a:xfrm>
            <a:off x="1778000" y="1303867"/>
            <a:ext cx="0" cy="626533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507F22-9469-35E3-E1BD-96E54314CC58}"/>
              </a:ext>
            </a:extLst>
          </p:cNvPr>
          <p:cNvCxnSpPr/>
          <p:nvPr/>
        </p:nvCxnSpPr>
        <p:spPr>
          <a:xfrm>
            <a:off x="1498600" y="1329267"/>
            <a:ext cx="279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96959E7-87BE-6A75-42A4-2EF8255182C4}"/>
              </a:ext>
            </a:extLst>
          </p:cNvPr>
          <p:cNvCxnSpPr>
            <a:cxnSpLocks/>
          </p:cNvCxnSpPr>
          <p:nvPr/>
        </p:nvCxnSpPr>
        <p:spPr>
          <a:xfrm>
            <a:off x="1498600" y="1634723"/>
            <a:ext cx="364066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E013B8F-C4A3-439D-FDA1-DEB13E32B78D}"/>
              </a:ext>
            </a:extLst>
          </p:cNvPr>
          <p:cNvCxnSpPr>
            <a:cxnSpLocks/>
          </p:cNvCxnSpPr>
          <p:nvPr/>
        </p:nvCxnSpPr>
        <p:spPr>
          <a:xfrm>
            <a:off x="1574800" y="1930400"/>
            <a:ext cx="2032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403B905-DE75-5487-3E76-3E19EB62F4D0}"/>
              </a:ext>
            </a:extLst>
          </p:cNvPr>
          <p:cNvSpPr/>
          <p:nvPr/>
        </p:nvSpPr>
        <p:spPr>
          <a:xfrm>
            <a:off x="50796" y="4477696"/>
            <a:ext cx="3344337" cy="2371780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PDF upload → </a:t>
            </a:r>
          </a:p>
          <a:p>
            <a:r>
              <a:rPr lang="en-US" dirty="0"/>
              <a:t>extract text → </a:t>
            </a:r>
          </a:p>
          <a:p>
            <a:r>
              <a:rPr lang="en-US" dirty="0"/>
              <a:t>preview obligations→</a:t>
            </a:r>
          </a:p>
          <a:p>
            <a:r>
              <a:rPr lang="en-US" dirty="0"/>
              <a:t>user confirm → </a:t>
            </a:r>
          </a:p>
          <a:p>
            <a:r>
              <a:rPr lang="en-US" dirty="0" err="1"/>
              <a:t>FinancialEvent</a:t>
            </a:r>
            <a:r>
              <a:rPr lang="en-US" dirty="0"/>
              <a:t> in ledger→ </a:t>
            </a:r>
          </a:p>
          <a:p>
            <a:r>
              <a:rPr lang="en-US" dirty="0"/>
              <a:t>copy also → RAG chunks + Obsidian wiki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578D2E2-0E21-FE38-C86A-1F5C185599F2}"/>
              </a:ext>
            </a:extLst>
          </p:cNvPr>
          <p:cNvSpPr/>
          <p:nvPr/>
        </p:nvSpPr>
        <p:spPr>
          <a:xfrm>
            <a:off x="4287615" y="4476525"/>
            <a:ext cx="3569452" cy="2371780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Plaid Link → </a:t>
            </a:r>
          </a:p>
          <a:p>
            <a:r>
              <a:rPr lang="en-US" dirty="0"/>
              <a:t>sync balances → </a:t>
            </a:r>
          </a:p>
          <a:p>
            <a:r>
              <a:rPr lang="en-US" dirty="0"/>
              <a:t>checking → </a:t>
            </a:r>
          </a:p>
          <a:p>
            <a:r>
              <a:rPr lang="en-US" dirty="0" err="1"/>
              <a:t>current_cash</a:t>
            </a:r>
            <a:r>
              <a:rPr lang="en-US" dirty="0"/>
              <a:t>→ opening balance</a:t>
            </a:r>
          </a:p>
          <a:p>
            <a:r>
              <a:rPr lang="en-US" dirty="0"/>
              <a:t>all accounts → </a:t>
            </a:r>
          </a:p>
          <a:p>
            <a:r>
              <a:rPr lang="en-US" dirty="0"/>
              <a:t>balance history + disposable view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4304A81A-D02B-CB52-AE24-24D3D14BD16F}"/>
              </a:ext>
            </a:extLst>
          </p:cNvPr>
          <p:cNvSpPr/>
          <p:nvPr/>
        </p:nvSpPr>
        <p:spPr>
          <a:xfrm>
            <a:off x="8796867" y="4477696"/>
            <a:ext cx="3344337" cy="2371780"/>
          </a:xfrm>
          <a:prstGeom prst="roundRect">
            <a:avLst/>
          </a:prstGeom>
          <a:solidFill>
            <a:srgbClr val="055E5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Scenario Chat / Telegram</a:t>
            </a:r>
          </a:p>
          <a:p>
            <a:r>
              <a:rPr lang="en-US" dirty="0"/>
              <a:t>→</a:t>
            </a:r>
          </a:p>
          <a:p>
            <a:r>
              <a:rPr lang="en-US" dirty="0"/>
              <a:t>route: ledger lookup | forecast what-if | RAG document</a:t>
            </a:r>
          </a:p>
          <a:p>
            <a:r>
              <a:rPr lang="en-US" dirty="0"/>
              <a:t>→ </a:t>
            </a:r>
          </a:p>
          <a:p>
            <a:r>
              <a:rPr lang="en-US" dirty="0"/>
              <a:t>answer with numbers + short explanation</a:t>
            </a:r>
          </a:p>
        </p:txBody>
      </p:sp>
    </p:spTree>
    <p:extLst>
      <p:ext uri="{BB962C8B-B14F-4D97-AF65-F5344CB8AC3E}">
        <p14:creationId xmlns:p14="http://schemas.microsoft.com/office/powerpoint/2010/main" val="489294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75CD6-D0B7-1245-01EA-F4B6CE76C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326222-3784-F7CE-21DB-D20F6B702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24"/>
            <a:ext cx="12207193" cy="684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328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FF4C1-80E9-3E38-8F0C-5477BC9A0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9804D4-9C12-AAC3-4103-9792FEAB6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24"/>
            <a:ext cx="12207193" cy="684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86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561</Words>
  <Application>Microsoft Office PowerPoint</Application>
  <PresentationFormat>Widescreen</PresentationFormat>
  <Paragraphs>82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Lihong Dang</dc:creator>
  <cp:lastModifiedBy>Lihong Dang</cp:lastModifiedBy>
  <cp:revision>22</cp:revision>
  <dcterms:created xsi:type="dcterms:W3CDTF">2026-06-23T02:21:27Z</dcterms:created>
  <dcterms:modified xsi:type="dcterms:W3CDTF">2026-06-23T15:06:38Z</dcterms:modified>
</cp:coreProperties>
</file>